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0" r:id="rId4"/>
  </p:sldMasterIdLst>
  <p:notesMasterIdLst>
    <p:notesMasterId r:id="rId19"/>
  </p:notesMasterIdLst>
  <p:handoutMasterIdLst>
    <p:handoutMasterId r:id="rId20"/>
  </p:handoutMasterIdLst>
  <p:sldIdLst>
    <p:sldId id="256" r:id="rId5"/>
    <p:sldId id="283" r:id="rId6"/>
    <p:sldId id="264" r:id="rId7"/>
    <p:sldId id="275" r:id="rId8"/>
    <p:sldId id="276" r:id="rId9"/>
    <p:sldId id="268" r:id="rId10"/>
    <p:sldId id="266" r:id="rId11"/>
    <p:sldId id="280" r:id="rId12"/>
    <p:sldId id="281" r:id="rId13"/>
    <p:sldId id="271" r:id="rId14"/>
    <p:sldId id="278" r:id="rId15"/>
    <p:sldId id="282"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98" d="100"/>
          <a:sy n="98" d="100"/>
        </p:scale>
        <p:origin x="-82" y="-101"/>
      </p:cViewPr>
      <p:guideLst>
        <p:guide orient="horz" pos="2160"/>
        <p:guide pos="3840"/>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pPr/>
              <a:t>6/21/2025</a:t>
            </a:fld>
            <a:endParaRPr lang="en-US" dirty="0"/>
          </a:p>
        </p:txBody>
      </p:sp>
      <p:sp>
        <p:nvSpPr>
          <p:cNvPr id="4" name="Footer Placeholder 3">
            <a:extLst>
              <a:ext uri="{FF2B5EF4-FFF2-40B4-BE49-F238E27FC236}">
                <a16:creationId xmlns:a16="http://schemas.microsoft.com/office/drawing/2014/main" xmlns=""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pPr/>
              <a:t>‹#›</a:t>
            </a:fld>
            <a:endParaRPr lang="en-US" dirty="0"/>
          </a:p>
        </p:txBody>
      </p:sp>
    </p:spTree>
    <p:extLst>
      <p:ext uri="{BB962C8B-B14F-4D97-AF65-F5344CB8AC3E}">
        <p14:creationId xmlns:p14="http://schemas.microsoft.com/office/powerpoint/2010/main" xmlns=""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pPr/>
              <a:t>6/21/2025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pPr/>
              <a:t>‹#›</a:t>
            </a:fld>
            <a:endParaRPr lang="en-US" dirty="0"/>
          </a:p>
        </p:txBody>
      </p:sp>
    </p:spTree>
    <p:extLst>
      <p:ext uri="{BB962C8B-B14F-4D97-AF65-F5344CB8AC3E}">
        <p14:creationId xmlns:p14="http://schemas.microsoft.com/office/powerpoint/2010/main" xmlns=""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374362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115667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851114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359353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1840365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2214308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2721398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2007100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1038878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390003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269176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xmlns="" val="2601506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28221615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3655697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365663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1580859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2436767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xmlns=""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xmlns=""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xmlns=""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xmlns=""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A87A34-81AB-432B-8DAE-1953F412C126}" type="datetimeFigureOut">
              <a:rPr lang="en-US" smtClean="0"/>
              <a:pPr/>
              <a:t>6/21/2025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xmlns="" val="1958137022"/>
      </p:ext>
    </p:extLst>
  </p:cSld>
  <p:clrMap bg1="dk1" tx1="lt1" bg2="dk2" tx2="lt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68D3E5-C7A3-47DF-A374-46BF83A69904}"/>
              </a:ext>
            </a:extLst>
          </p:cNvPr>
          <p:cNvSpPr>
            <a:spLocks noGrp="1"/>
          </p:cNvSpPr>
          <p:nvPr>
            <p:ph type="ctrTitle"/>
          </p:nvPr>
        </p:nvSpPr>
        <p:spPr>
          <a:xfrm>
            <a:off x="1339681" y="2350673"/>
            <a:ext cx="9262816" cy="1464710"/>
          </a:xfrm>
        </p:spPr>
        <p:txBody>
          <a:bodyPr>
            <a:noAutofit/>
          </a:bodyPr>
          <a:lstStyle/>
          <a:p>
            <a:pPr algn="ctr"/>
            <a:r>
              <a:rPr lang="en-US" sz="4000" b="1" dirty="0">
                <a:solidFill>
                  <a:schemeClr val="bg1"/>
                </a:solidFill>
                <a:latin typeface="Times New Roman"/>
                <a:cs typeface="Times New Roman"/>
              </a:rPr>
              <a:t>COVERLESS INFORMATION HIDING METHOD BASED ON WEB TEXT</a:t>
            </a:r>
            <a:endParaRPr lang="en-US" sz="4000" b="1"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xmlns="" id="{2E78725B-6E40-4D82-B375-7831D81C29EE}"/>
              </a:ext>
            </a:extLst>
          </p:cNvPr>
          <p:cNvSpPr>
            <a:spLocks noGrp="1"/>
          </p:cNvSpPr>
          <p:nvPr>
            <p:ph type="subTitle" idx="1"/>
          </p:nvPr>
        </p:nvSpPr>
        <p:spPr>
          <a:xfrm>
            <a:off x="1137550" y="4658626"/>
            <a:ext cx="4015418" cy="1187686"/>
          </a:xfrm>
        </p:spPr>
        <p:txBody>
          <a:bodyPr>
            <a:normAutofit lnSpcReduction="10000"/>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9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CSD         :</a:t>
            </a:r>
            <a:r>
              <a:rPr lang="en-US" sz="1900" b="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a:t>
            </a:r>
            <a:r>
              <a:rPr lang="en-US" sz="19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BATCH 05</a:t>
            </a:r>
          </a:p>
          <a:p>
            <a:pPr algn="ctr"/>
            <a:r>
              <a:rPr lang="en-US" sz="19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a:t>
            </a:r>
            <a:r>
              <a:rPr lang="en-US" sz="19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MENTOR  :</a:t>
            </a:r>
            <a:r>
              <a:rPr lang="en-US" sz="19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SARIKA MAM</a:t>
            </a:r>
          </a:p>
          <a:p>
            <a:pPr algn="ctr"/>
            <a:r>
              <a:rPr lang="en-US" sz="19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[asst . professor]</a:t>
            </a:r>
          </a:p>
          <a:p>
            <a:pPr algn="ct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xmlns="" id="{0A81FA87-72C1-D2FE-8184-C04D94D5683A}"/>
              </a:ext>
            </a:extLst>
          </p:cNvPr>
          <p:cNvSpPr txBox="1"/>
          <p:nvPr/>
        </p:nvSpPr>
        <p:spPr>
          <a:xfrm>
            <a:off x="8054493" y="4471733"/>
            <a:ext cx="3644849" cy="1908215"/>
          </a:xfrm>
          <a:prstGeom prst="rect">
            <a:avLst/>
          </a:prstGeom>
          <a:noFill/>
        </p:spPr>
        <p:txBody>
          <a:bodyPr wrap="square">
            <a:spAutoFit/>
          </a:bodyPr>
          <a:lstStyle/>
          <a:p>
            <a:r>
              <a:rPr lang="en-US" sz="2000" b="1" dirty="0">
                <a:solidFill>
                  <a:schemeClr val="bg1"/>
                </a:solidFill>
                <a:latin typeface="Times New Roman"/>
                <a:cs typeface="Times New Roman"/>
              </a:rPr>
              <a:t>TEAM :</a:t>
            </a:r>
          </a:p>
          <a:p>
            <a:r>
              <a:rPr lang="en-US" sz="2000" dirty="0">
                <a:latin typeface="Times New Roman"/>
                <a:cs typeface="Times New Roman"/>
              </a:rPr>
              <a:t>K.SADHIKA -216Y1A6724</a:t>
            </a:r>
          </a:p>
          <a:p>
            <a:r>
              <a:rPr lang="en-US" sz="2000" dirty="0">
                <a:latin typeface="Times New Roman"/>
                <a:cs typeface="Times New Roman"/>
              </a:rPr>
              <a:t>S.SRINIDHI – 216Y1A</a:t>
            </a:r>
            <a:r>
              <a:rPr lang="en-IN" sz="2000" dirty="0">
                <a:latin typeface="Times New Roman"/>
                <a:cs typeface="Times New Roman"/>
              </a:rPr>
              <a:t>6751</a:t>
            </a:r>
          </a:p>
          <a:p>
            <a:r>
              <a:rPr lang="en-IN" sz="2000" dirty="0">
                <a:latin typeface="Times New Roman"/>
                <a:cs typeface="Times New Roman"/>
              </a:rPr>
              <a:t>T.SHIVANI – 226Y5A6702</a:t>
            </a:r>
          </a:p>
          <a:p>
            <a:r>
              <a:rPr lang="en-IN" sz="2000" dirty="0">
                <a:latin typeface="Times New Roman"/>
                <a:cs typeface="Times New Roman"/>
              </a:rPr>
              <a:t>V.PRAMITHA – 216Y1A6760</a:t>
            </a:r>
            <a:endParaRPr lang="en-US" sz="2000" dirty="0">
              <a:latin typeface="Times New Roman"/>
              <a:cs typeface="Times New Roman"/>
            </a:endParaRPr>
          </a:p>
          <a:p>
            <a:endParaRPr lang="en-IN" dirty="0"/>
          </a:p>
        </p:txBody>
      </p:sp>
      <p:pic>
        <p:nvPicPr>
          <p:cNvPr id="6" name="Picture 5">
            <a:extLst>
              <a:ext uri="{FF2B5EF4-FFF2-40B4-BE49-F238E27FC236}">
                <a16:creationId xmlns:a16="http://schemas.microsoft.com/office/drawing/2014/main" xmlns="" id="{9C5CC0B8-0CF9-F812-8360-A239AC32294F}"/>
              </a:ext>
            </a:extLst>
          </p:cNvPr>
          <p:cNvPicPr>
            <a:picLocks noChangeAspect="1"/>
          </p:cNvPicPr>
          <p:nvPr/>
        </p:nvPicPr>
        <p:blipFill>
          <a:blip r:embed="rId2"/>
          <a:stretch>
            <a:fillRect/>
          </a:stretch>
        </p:blipFill>
        <p:spPr>
          <a:xfrm>
            <a:off x="2356585" y="532301"/>
            <a:ext cx="7478829" cy="1327874"/>
          </a:xfrm>
          <a:prstGeom prst="rect">
            <a:avLst/>
          </a:prstGeom>
        </p:spPr>
      </p:pic>
    </p:spTree>
    <p:extLst>
      <p:ext uri="{BB962C8B-B14F-4D97-AF65-F5344CB8AC3E}">
        <p14:creationId xmlns:p14="http://schemas.microsoft.com/office/powerpoint/2010/main" xmlns=""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6187" y="700690"/>
            <a:ext cx="2554288" cy="678658"/>
          </a:xfrm>
        </p:spPr>
        <p:txBody>
          <a:bodyPr/>
          <a:lstStyle/>
          <a:p>
            <a:r>
              <a:rPr lang="en-US" sz="3200" b="1" dirty="0" smtClean="0">
                <a:solidFill>
                  <a:schemeClr val="bg1"/>
                </a:solidFill>
                <a:latin typeface="Times New Roman" pitchFamily="18" charset="0"/>
                <a:cs typeface="Times New Roman" pitchFamily="18" charset="0"/>
              </a:rPr>
              <a:t>ABSTRACT</a:t>
            </a:r>
            <a:endParaRPr lang="en-US" sz="3200" b="1"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342900" lvl="1" indent="-342900"/>
            <a:r>
              <a:rPr lang="en-US" dirty="0" smtClean="0">
                <a:solidFill>
                  <a:schemeClr val="tx1">
                    <a:lumMod val="95000"/>
                  </a:schemeClr>
                </a:solidFill>
                <a:latin typeface="Times New Roman" panose="02020603050405020304" pitchFamily="18" charset="0"/>
                <a:cs typeface="Times New Roman" panose="02020603050405020304" pitchFamily="18" charset="0"/>
              </a:rPr>
              <a:t>The coverless information hiding method conceals secret information (SI) within web text without altering the text itself</a:t>
            </a:r>
            <a:r>
              <a:rPr lang="en-US" dirty="0" smtClean="0">
                <a:solidFill>
                  <a:schemeClr val="tx1">
                    <a:lumMod val="95000"/>
                  </a:schemeClr>
                </a:solidFill>
                <a:latin typeface="Times New Roman" panose="02020603050405020304" pitchFamily="18" charset="0"/>
                <a:cs typeface="Times New Roman" panose="02020603050405020304" pitchFamily="18" charset="0"/>
              </a:rPr>
              <a:t>.</a:t>
            </a:r>
          </a:p>
          <a:p>
            <a:pPr marL="342900" lvl="1" indent="-342900"/>
            <a:r>
              <a:rPr lang="en-US" dirty="0" smtClean="0">
                <a:solidFill>
                  <a:schemeClr val="tx1">
                    <a:lumMod val="95000"/>
                  </a:schemeClr>
                </a:solidFill>
                <a:latin typeface="Times New Roman" panose="02020603050405020304" pitchFamily="18" charset="0"/>
                <a:cs typeface="Times New Roman" panose="02020603050405020304" pitchFamily="18" charset="0"/>
              </a:rPr>
              <a:t> </a:t>
            </a:r>
            <a:r>
              <a:rPr lang="en-US" dirty="0" smtClean="0">
                <a:solidFill>
                  <a:schemeClr val="tx1">
                    <a:lumMod val="95000"/>
                  </a:schemeClr>
                </a:solidFill>
                <a:latin typeface="Times New Roman" panose="02020603050405020304" pitchFamily="18" charset="0"/>
                <a:cs typeface="Times New Roman" panose="02020603050405020304" pitchFamily="18" charset="0"/>
              </a:rPr>
              <a:t>It begins by using a web spider to collect a large volume of relevant text from the internet, creating a library. </a:t>
            </a:r>
            <a:endParaRPr lang="en-US" dirty="0" smtClean="0">
              <a:solidFill>
                <a:schemeClr val="tx1">
                  <a:lumMod val="95000"/>
                </a:schemeClr>
              </a:solidFill>
              <a:latin typeface="Times New Roman" panose="02020603050405020304" pitchFamily="18" charset="0"/>
              <a:cs typeface="Times New Roman" panose="02020603050405020304" pitchFamily="18" charset="0"/>
            </a:endParaRPr>
          </a:p>
          <a:p>
            <a:pPr marL="342900" lvl="1" indent="-342900"/>
            <a:r>
              <a:rPr lang="en-US" dirty="0" smtClean="0">
                <a:solidFill>
                  <a:schemeClr val="tx1">
                    <a:lumMod val="95000"/>
                  </a:schemeClr>
                </a:solidFill>
                <a:latin typeface="Times New Roman" panose="02020603050405020304" pitchFamily="18" charset="0"/>
                <a:cs typeface="Times New Roman" panose="02020603050405020304" pitchFamily="18" charset="0"/>
              </a:rPr>
              <a:t>The </a:t>
            </a:r>
            <a:r>
              <a:rPr lang="en-US" dirty="0" smtClean="0">
                <a:solidFill>
                  <a:schemeClr val="tx1">
                    <a:lumMod val="95000"/>
                  </a:schemeClr>
                </a:solidFill>
                <a:latin typeface="Times New Roman" panose="02020603050405020304" pitchFamily="18" charset="0"/>
                <a:cs typeface="Times New Roman" panose="02020603050405020304" pitchFamily="18" charset="0"/>
              </a:rPr>
              <a:t>method then searches this library to find the most suitable text for hiding the information and marks the exact location of the SI using a two-dimensional coordinate system. </a:t>
            </a:r>
            <a:endParaRPr lang="en-US" dirty="0" smtClean="0">
              <a:solidFill>
                <a:schemeClr val="tx1">
                  <a:lumMod val="95000"/>
                </a:schemeClr>
              </a:solidFill>
              <a:latin typeface="Times New Roman" panose="02020603050405020304" pitchFamily="18" charset="0"/>
              <a:cs typeface="Times New Roman" panose="02020603050405020304" pitchFamily="18" charset="0"/>
            </a:endParaRPr>
          </a:p>
          <a:p>
            <a:pPr marL="342900" lvl="1" indent="-342900"/>
            <a:r>
              <a:rPr lang="en-US" dirty="0" smtClean="0">
                <a:solidFill>
                  <a:schemeClr val="tx1">
                    <a:lumMod val="95000"/>
                  </a:schemeClr>
                </a:solidFill>
                <a:latin typeface="Times New Roman" panose="02020603050405020304" pitchFamily="18" charset="0"/>
                <a:cs typeface="Times New Roman" panose="02020603050405020304" pitchFamily="18" charset="0"/>
              </a:rPr>
              <a:t>Finally</a:t>
            </a:r>
            <a:r>
              <a:rPr lang="en-US" dirty="0" smtClean="0">
                <a:solidFill>
                  <a:schemeClr val="tx1">
                    <a:lumMod val="95000"/>
                  </a:schemeClr>
                </a:solidFill>
                <a:latin typeface="Times New Roman" panose="02020603050405020304" pitchFamily="18" charset="0"/>
                <a:cs typeface="Times New Roman" panose="02020603050405020304" pitchFamily="18" charset="0"/>
              </a:rPr>
              <a:t>, it combines the URL of the selected text with the location details and sends this information to the recipient. </a:t>
            </a:r>
            <a:endParaRPr lang="en-US" dirty="0" smtClean="0">
              <a:solidFill>
                <a:schemeClr val="tx1">
                  <a:lumMod val="95000"/>
                </a:schemeClr>
              </a:solidFill>
              <a:latin typeface="Times New Roman" panose="02020603050405020304" pitchFamily="18" charset="0"/>
              <a:cs typeface="Times New Roman" panose="02020603050405020304" pitchFamily="18" charset="0"/>
            </a:endParaRPr>
          </a:p>
          <a:p>
            <a:pPr marL="342900" lvl="1" indent="-342900"/>
            <a:r>
              <a:rPr lang="en-US" dirty="0" smtClean="0">
                <a:solidFill>
                  <a:schemeClr val="tx1">
                    <a:lumMod val="95000"/>
                  </a:schemeClr>
                </a:solidFill>
                <a:latin typeface="Times New Roman" panose="02020603050405020304" pitchFamily="18" charset="0"/>
                <a:cs typeface="Times New Roman" panose="02020603050405020304" pitchFamily="18" charset="0"/>
              </a:rPr>
              <a:t>Experimental </a:t>
            </a:r>
            <a:r>
              <a:rPr lang="en-US" dirty="0" smtClean="0">
                <a:solidFill>
                  <a:schemeClr val="tx1">
                    <a:lumMod val="95000"/>
                  </a:schemeClr>
                </a:solidFill>
                <a:latin typeface="Times New Roman" panose="02020603050405020304" pitchFamily="18" charset="0"/>
                <a:cs typeface="Times New Roman" panose="02020603050405020304" pitchFamily="18" charset="0"/>
              </a:rPr>
              <a:t>results show that this method improves hiding capacity, success rate, and overall security, making it effective when traditional methods may fail or be easily detected.</a:t>
            </a:r>
            <a:endParaRPr lang="en-IN" dirty="0" smtClean="0">
              <a:solidFill>
                <a:schemeClr val="tx1">
                  <a:lumMod val="95000"/>
                </a:schemeClr>
              </a:solidFill>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795718-3ED3-63B0-4E24-FE5E9D960462}"/>
              </a:ext>
            </a:extLst>
          </p:cNvPr>
          <p:cNvSpPr>
            <a:spLocks noGrp="1"/>
          </p:cNvSpPr>
          <p:nvPr>
            <p:ph type="title"/>
          </p:nvPr>
        </p:nvSpPr>
        <p:spPr>
          <a:xfrm>
            <a:off x="4038617" y="918839"/>
            <a:ext cx="3497964" cy="952830"/>
          </a:xfrm>
        </p:spPr>
        <p:txBody>
          <a:bodyPr>
            <a:normAutofit fontScale="90000"/>
          </a:bodyPr>
          <a:lstStyle/>
          <a:p>
            <a:r>
              <a:rPr lang="en-IN" sz="3200" dirty="0">
                <a:solidFill>
                  <a:schemeClr val="tx1"/>
                </a:solidFill>
                <a:latin typeface="Times New Roman" panose="02020603050405020304" pitchFamily="18" charset="0"/>
                <a:cs typeface="Times New Roman" panose="02020603050405020304" pitchFamily="18" charset="0"/>
              </a:rPr>
              <a:t> </a:t>
            </a:r>
            <a:r>
              <a:rPr lang="en-IN" sz="3200" b="1" dirty="0">
                <a:solidFill>
                  <a:schemeClr val="bg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xmlns="" id="{9DAD9553-FC70-1E03-D67D-FF7D5DB38E99}"/>
              </a:ext>
            </a:extLst>
          </p:cNvPr>
          <p:cNvSpPr>
            <a:spLocks noGrp="1"/>
          </p:cNvSpPr>
          <p:nvPr>
            <p:ph idx="1"/>
          </p:nvPr>
        </p:nvSpPr>
        <p:spPr>
          <a:xfrm>
            <a:off x="874026" y="2283686"/>
            <a:ext cx="10443947" cy="3630967"/>
          </a:xfrm>
        </p:spPr>
        <p:txBody>
          <a:bodyPr>
            <a:noAutofit/>
          </a:bodyPr>
          <a:lstStyle/>
          <a:p>
            <a:pPr algn="just"/>
            <a:r>
              <a:rPr lang="en-US" sz="1800" dirty="0">
                <a:latin typeface="Times New Roman" panose="02020603050405020304" pitchFamily="18" charset="0"/>
                <a:cs typeface="Times New Roman" panose="02020603050405020304" pitchFamily="18" charset="0"/>
              </a:rPr>
              <a:t>Text information hiding conceals data within digital carriers like text, images, videos, and audio. Among these, text-based hiding is common and includes format-based, image-based, and natural language-based methods. </a:t>
            </a:r>
          </a:p>
          <a:p>
            <a:pPr algn="just"/>
            <a:r>
              <a:rPr lang="en-US" sz="1800" dirty="0">
                <a:latin typeface="Times New Roman" panose="02020603050405020304" pitchFamily="18" charset="0"/>
                <a:cs typeface="Times New Roman" panose="02020603050405020304" pitchFamily="18" charset="0"/>
              </a:rPr>
              <a:t>Coverless text hiding retrieves unmodified text from large databases, improving security against detection. </a:t>
            </a:r>
          </a:p>
          <a:p>
            <a:pPr algn="just"/>
            <a:r>
              <a:rPr lang="en-US" sz="1800" dirty="0">
                <a:latin typeface="Times New Roman" panose="02020603050405020304" pitchFamily="18" charset="0"/>
                <a:cs typeface="Times New Roman" panose="02020603050405020304" pitchFamily="18" charset="0"/>
              </a:rPr>
              <a:t>Techniques like Word Rank Map and hash algorithms enhance the process, balancing hiding capacity and security while addressing limitations such as storage and exposure risks.</a:t>
            </a:r>
          </a:p>
          <a:p>
            <a:pPr algn="just"/>
            <a:r>
              <a:rPr lang="en-US" sz="1800" dirty="0">
                <a:latin typeface="Times New Roman" panose="02020603050405020304" pitchFamily="18" charset="0"/>
                <a:cs typeface="Times New Roman" panose="02020603050405020304" pitchFamily="18" charset="0"/>
              </a:rPr>
              <a:t>Current text information hiding methods either modify the carrier, making them vulnerable to attacks, or generate natural language texts that suffer from incoherence, poor readability, and statistical deviations. </a:t>
            </a:r>
          </a:p>
          <a:p>
            <a:pPr algn="just"/>
            <a:r>
              <a:rPr lang="en-US" sz="1800" dirty="0">
                <a:latin typeface="Times New Roman" panose="02020603050405020304" pitchFamily="18" charset="0"/>
                <a:cs typeface="Times New Roman" panose="02020603050405020304" pitchFamily="18" charset="0"/>
              </a:rPr>
              <a:t>The primary objective of this project is to develop a novel, coverless text information hiding technique that utilizes shared big data to embed secret information seamlessly without modifying the original carrier texts</a:t>
            </a:r>
            <a:endParaRPr lang="en-IN" sz="1800" dirty="0">
              <a:latin typeface="Times New Roman" panose="02020603050405020304" pitchFamily="18" charset="0"/>
              <a:cs typeface="Times New Roman" panose="02020603050405020304" pitchFamily="18" charset="0"/>
            </a:endParaRPr>
          </a:p>
          <a:p>
            <a:pPr algn="just">
              <a:lnSpc>
                <a:spcPct val="160000"/>
              </a:lnSpc>
            </a:pPr>
            <a:endParaRPr lang="en-IN" sz="1600" dirty="0">
              <a:cs typeface="Times New Roman" panose="02020603050405020304" pitchFamily="18" charset="0"/>
            </a:endParaRPr>
          </a:p>
        </p:txBody>
      </p:sp>
    </p:spTree>
    <p:extLst>
      <p:ext uri="{BB962C8B-B14F-4D97-AF65-F5344CB8AC3E}">
        <p14:creationId xmlns:p14="http://schemas.microsoft.com/office/powerpoint/2010/main" xmlns="" val="2842973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C0DBBC-657E-35CD-64B8-B0C119192DBE}"/>
              </a:ext>
            </a:extLst>
          </p:cNvPr>
          <p:cNvSpPr>
            <a:spLocks noGrp="1"/>
          </p:cNvSpPr>
          <p:nvPr>
            <p:ph type="title"/>
          </p:nvPr>
        </p:nvSpPr>
        <p:spPr>
          <a:xfrm>
            <a:off x="3788547" y="693019"/>
            <a:ext cx="4325550" cy="529390"/>
          </a:xfrm>
        </p:spPr>
        <p:txBody>
          <a:bodyPr>
            <a:normAutofit fontScale="90000"/>
          </a:bodyPr>
          <a:lstStyle/>
          <a:p>
            <a:r>
              <a:rPr lang="en-US" sz="3200" b="1" dirty="0">
                <a:solidFill>
                  <a:schemeClr val="bg1"/>
                </a:solidFill>
                <a:latin typeface="Times New Roman" panose="02020603050405020304" pitchFamily="18" charset="0"/>
                <a:cs typeface="Times New Roman" panose="02020603050405020304" pitchFamily="18" charset="0"/>
              </a:rPr>
              <a:t>LITERATURE SURVEY</a:t>
            </a:r>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FA3A5FBA-8DEF-9A55-657C-0F8362D0BFF6}"/>
              </a:ext>
            </a:extLst>
          </p:cNvPr>
          <p:cNvSpPr>
            <a:spLocks noGrp="1"/>
          </p:cNvSpPr>
          <p:nvPr>
            <p:ph type="body" idx="1"/>
          </p:nvPr>
        </p:nvSpPr>
        <p:spPr>
          <a:xfrm>
            <a:off x="917477" y="1653171"/>
            <a:ext cx="9906000" cy="1374776"/>
          </a:xfrm>
        </p:spPr>
        <p:txBody>
          <a:bodyPr>
            <a:noAutofit/>
          </a:bodyPr>
          <a:lstStyle/>
          <a:p>
            <a:pPr algn="just"/>
            <a:r>
              <a:rPr lang="en-US" sz="1600" b="1" dirty="0">
                <a:solidFill>
                  <a:schemeClr val="bg1"/>
                </a:solidFill>
                <a:latin typeface="Times New Roman" panose="02020603050405020304" pitchFamily="18" charset="0"/>
                <a:cs typeface="Times New Roman" panose="02020603050405020304" pitchFamily="18" charset="0"/>
              </a:rPr>
              <a:t>1.Lin Xiang et al. : </a:t>
            </a:r>
            <a:r>
              <a:rPr lang="en-US" sz="1600" cap="none" dirty="0">
                <a:solidFill>
                  <a:schemeClr val="tx1"/>
                </a:solidFill>
                <a:latin typeface="Times New Roman" panose="02020603050405020304" pitchFamily="18" charset="0"/>
                <a:cs typeface="Times New Roman" panose="02020603050405020304" pitchFamily="18" charset="0"/>
              </a:rPr>
              <a:t>Proposed a robust text coverless information hiding method based on multi-Index. This approach segments secret information into keywords, transforms them into keyword ids and searches for texts containing these ids in big data text. Features include strong robustness and concealment.</a:t>
            </a:r>
          </a:p>
          <a:p>
            <a:pPr algn="just"/>
            <a:r>
              <a:rPr lang="en-US" sz="1600" b="1" dirty="0">
                <a:solidFill>
                  <a:schemeClr val="bg1"/>
                </a:solidFill>
                <a:latin typeface="Times New Roman" panose="02020603050405020304" pitchFamily="18" charset="0"/>
                <a:cs typeface="Times New Roman" panose="02020603050405020304" pitchFamily="18" charset="0"/>
              </a:rPr>
              <a:t>Method :</a:t>
            </a:r>
            <a:r>
              <a:rPr lang="en-US" sz="1600" dirty="0">
                <a:latin typeface="Times New Roman" panose="02020603050405020304" pitchFamily="18" charset="0"/>
                <a:cs typeface="Times New Roman" panose="02020603050405020304" pitchFamily="18" charset="0"/>
              </a:rPr>
              <a:t> </a:t>
            </a:r>
            <a:r>
              <a:rPr lang="en-US" sz="1600" cap="none" dirty="0">
                <a:solidFill>
                  <a:schemeClr val="tx1"/>
                </a:solidFill>
                <a:latin typeface="Times New Roman" panose="02020603050405020304" pitchFamily="18" charset="0"/>
                <a:cs typeface="Times New Roman" panose="02020603050405020304" pitchFamily="18" charset="0"/>
              </a:rPr>
              <a:t>Multi-index approach with random increment factor</a:t>
            </a:r>
            <a:endParaRPr lang="en-US" sz="1600" dirty="0">
              <a:solidFill>
                <a:schemeClr val="tx1"/>
              </a:solidFill>
              <a:latin typeface="Times New Roman" panose="02020603050405020304" pitchFamily="18" charset="0"/>
              <a:cs typeface="Times New Roman" panose="02020603050405020304" pitchFamily="18" charset="0"/>
            </a:endParaRPr>
          </a:p>
          <a:p>
            <a:pPr algn="just"/>
            <a:r>
              <a:rPr lang="en-US" sz="1600" b="1" dirty="0">
                <a:solidFill>
                  <a:schemeClr val="bg1"/>
                </a:solidFill>
                <a:latin typeface="Times New Roman" panose="02020603050405020304" pitchFamily="18" charset="0"/>
                <a:cs typeface="Times New Roman" panose="02020603050405020304" pitchFamily="18" charset="0"/>
              </a:rPr>
              <a:t>Features :</a:t>
            </a:r>
            <a:r>
              <a:rPr lang="en-US" sz="1600" b="1" dirty="0">
                <a:latin typeface="Times New Roman" panose="02020603050405020304" pitchFamily="18" charset="0"/>
                <a:cs typeface="Times New Roman" panose="02020603050405020304" pitchFamily="18" charset="0"/>
              </a:rPr>
              <a:t> </a:t>
            </a:r>
            <a:r>
              <a:rPr lang="en-US" sz="1600" cap="none" dirty="0">
                <a:solidFill>
                  <a:schemeClr val="tx1"/>
                </a:solidFill>
                <a:latin typeface="Times New Roman" panose="02020603050405020304" pitchFamily="18" charset="0"/>
                <a:cs typeface="Times New Roman" panose="02020603050405020304" pitchFamily="18" charset="0"/>
              </a:rPr>
              <a:t>Strong robustness, concealment, and security</a:t>
            </a:r>
            <a:endParaRPr lang="en-US" sz="1600" dirty="0">
              <a:solidFill>
                <a:schemeClr val="tx1"/>
              </a:solidFill>
              <a:latin typeface="Times New Roman" panose="02020603050405020304" pitchFamily="18" charset="0"/>
              <a:cs typeface="Times New Roman" panose="02020603050405020304" pitchFamily="18" charset="0"/>
            </a:endParaRPr>
          </a:p>
          <a:p>
            <a:pPr algn="just"/>
            <a:r>
              <a:rPr lang="en-US" sz="1600" b="1" dirty="0">
                <a:solidFill>
                  <a:schemeClr val="bg1"/>
                </a:solidFill>
                <a:latin typeface="Times New Roman" panose="02020603050405020304" pitchFamily="18" charset="0"/>
                <a:cs typeface="Times New Roman" panose="02020603050405020304" pitchFamily="18" charset="0"/>
              </a:rPr>
              <a:t>Limitations </a:t>
            </a:r>
            <a:r>
              <a:rPr lang="en-US" sz="1600" b="1" cap="none" dirty="0">
                <a:solidFill>
                  <a:schemeClr val="bg1"/>
                </a:solidFill>
                <a:latin typeface="Times New Roman" panose="02020603050405020304" pitchFamily="18" charset="0"/>
                <a:cs typeface="Times New Roman" panose="02020603050405020304" pitchFamily="18" charset="0"/>
              </a:rPr>
              <a:t>:</a:t>
            </a:r>
            <a:r>
              <a:rPr lang="en-US" sz="1600" cap="none" dirty="0">
                <a:latin typeface="Times New Roman" panose="02020603050405020304" pitchFamily="18" charset="0"/>
                <a:cs typeface="Times New Roman" panose="02020603050405020304" pitchFamily="18" charset="0"/>
              </a:rPr>
              <a:t> </a:t>
            </a:r>
            <a:r>
              <a:rPr lang="en-US" sz="1600" cap="none" dirty="0">
                <a:solidFill>
                  <a:schemeClr val="tx1"/>
                </a:solidFill>
                <a:latin typeface="Times New Roman" panose="02020603050405020304" pitchFamily="18" charset="0"/>
                <a:cs typeface="Times New Roman" panose="02020603050405020304" pitchFamily="18" charset="0"/>
              </a:rPr>
              <a:t>Complexity in managing large-scale text data</a:t>
            </a:r>
          </a:p>
          <a:p>
            <a:pPr algn="just"/>
            <a:endParaRPr lang="en-US" sz="1600" b="1" dirty="0">
              <a:solidFill>
                <a:schemeClr val="bg1"/>
              </a:solidFill>
              <a:latin typeface="Times New Roman" panose="02020603050405020304" pitchFamily="18" charset="0"/>
              <a:cs typeface="Times New Roman" panose="02020603050405020304" pitchFamily="18" charset="0"/>
            </a:endParaRPr>
          </a:p>
          <a:p>
            <a:pPr algn="just"/>
            <a:r>
              <a:rPr lang="en-US" sz="1600" b="1" dirty="0">
                <a:solidFill>
                  <a:schemeClr val="bg1"/>
                </a:solidFill>
                <a:latin typeface="Times New Roman" panose="02020603050405020304" pitchFamily="18" charset="0"/>
                <a:cs typeface="Times New Roman" panose="02020603050405020304" pitchFamily="18" charset="0"/>
              </a:rPr>
              <a:t>2.Pedapati Anitha et al. </a:t>
            </a:r>
            <a:r>
              <a:rPr lang="en-US" sz="1600" b="1" dirty="0">
                <a:solidFill>
                  <a:schemeClr val="tx1"/>
                </a:solidFill>
                <a:latin typeface="Times New Roman" panose="02020603050405020304" pitchFamily="18" charset="0"/>
                <a:cs typeface="Times New Roman" panose="02020603050405020304" pitchFamily="18" charset="0"/>
              </a:rPr>
              <a:t>: </a:t>
            </a:r>
            <a:r>
              <a:rPr lang="en-US" sz="1600" cap="none" dirty="0">
                <a:solidFill>
                  <a:schemeClr val="tx1"/>
                </a:solidFill>
                <a:latin typeface="Times New Roman" panose="02020603050405020304" pitchFamily="18" charset="0"/>
                <a:cs typeface="Times New Roman" panose="02020603050405020304" pitchFamily="18" charset="0"/>
              </a:rPr>
              <a:t>Discussed coverless information hiding methods based on image Annotation. This approach focuses on extracting valuable data from large information supplies and Leveraging for information hiding.</a:t>
            </a:r>
          </a:p>
          <a:p>
            <a:pPr algn="just"/>
            <a:r>
              <a:rPr lang="en-US" sz="1600" b="1" dirty="0">
                <a:solidFill>
                  <a:schemeClr val="bg1"/>
                </a:solidFill>
                <a:latin typeface="Times New Roman" panose="02020603050405020304" pitchFamily="18" charset="0"/>
                <a:cs typeface="Times New Roman" panose="02020603050405020304" pitchFamily="18" charset="0"/>
              </a:rPr>
              <a:t>Method :</a:t>
            </a:r>
            <a:r>
              <a:rPr lang="en-US" sz="1600" b="1" dirty="0">
                <a:latin typeface="Times New Roman" panose="02020603050405020304" pitchFamily="18" charset="0"/>
                <a:cs typeface="Times New Roman" panose="02020603050405020304" pitchFamily="18" charset="0"/>
              </a:rPr>
              <a:t> </a:t>
            </a:r>
            <a:r>
              <a:rPr lang="en-US" sz="1600" cap="none" dirty="0">
                <a:solidFill>
                  <a:schemeClr val="tx1"/>
                </a:solidFill>
                <a:latin typeface="Times New Roman" panose="02020603050405020304" pitchFamily="18" charset="0"/>
                <a:cs typeface="Times New Roman" panose="02020603050405020304" pitchFamily="18" charset="0"/>
              </a:rPr>
              <a:t>Image annotation</a:t>
            </a:r>
            <a:endParaRPr lang="en-US" sz="1600" dirty="0">
              <a:solidFill>
                <a:schemeClr val="tx1"/>
              </a:solidFill>
              <a:latin typeface="Times New Roman" panose="02020603050405020304" pitchFamily="18" charset="0"/>
              <a:cs typeface="Times New Roman" panose="02020603050405020304" pitchFamily="18" charset="0"/>
            </a:endParaRPr>
          </a:p>
          <a:p>
            <a:pPr algn="just"/>
            <a:r>
              <a:rPr lang="en-US" sz="1600" b="1" dirty="0">
                <a:solidFill>
                  <a:schemeClr val="bg1"/>
                </a:solidFill>
                <a:latin typeface="Times New Roman" panose="02020603050405020304" pitchFamily="18" charset="0"/>
                <a:cs typeface="Times New Roman" panose="02020603050405020304" pitchFamily="18" charset="0"/>
              </a:rPr>
              <a:t>Features : </a:t>
            </a:r>
            <a:r>
              <a:rPr lang="en-US" sz="1600" cap="none" dirty="0">
                <a:solidFill>
                  <a:schemeClr val="tx1"/>
                </a:solidFill>
                <a:latin typeface="Times New Roman" panose="02020603050405020304" pitchFamily="18" charset="0"/>
                <a:cs typeface="Times New Roman" panose="02020603050405020304" pitchFamily="18" charset="0"/>
              </a:rPr>
              <a:t>Potential for high hiding capacity</a:t>
            </a:r>
            <a:endParaRPr lang="en-US" sz="1600" dirty="0">
              <a:solidFill>
                <a:schemeClr val="tx1"/>
              </a:solidFill>
              <a:latin typeface="Times New Roman" panose="02020603050405020304" pitchFamily="18" charset="0"/>
              <a:cs typeface="Times New Roman" panose="02020603050405020304" pitchFamily="18" charset="0"/>
            </a:endParaRPr>
          </a:p>
          <a:p>
            <a:pPr algn="just"/>
            <a:r>
              <a:rPr lang="en-US" sz="1600" b="1" dirty="0">
                <a:solidFill>
                  <a:schemeClr val="bg1"/>
                </a:solidFill>
                <a:latin typeface="Times New Roman" panose="02020603050405020304" pitchFamily="18" charset="0"/>
                <a:cs typeface="Times New Roman" panose="02020603050405020304" pitchFamily="18" charset="0"/>
              </a:rPr>
              <a:t>Limitations :</a:t>
            </a:r>
            <a:r>
              <a:rPr lang="en-US" sz="1600" dirty="0">
                <a:solidFill>
                  <a:schemeClr val="tx1"/>
                </a:solidFill>
                <a:latin typeface="Times New Roman" panose="02020603050405020304" pitchFamily="18" charset="0"/>
                <a:cs typeface="Times New Roman" panose="02020603050405020304" pitchFamily="18" charset="0"/>
              </a:rPr>
              <a:t> </a:t>
            </a:r>
            <a:r>
              <a:rPr lang="en-US" sz="1600" cap="none" dirty="0">
                <a:solidFill>
                  <a:schemeClr val="tx1"/>
                </a:solidFill>
                <a:latin typeface="Times New Roman" panose="02020603050405020304" pitchFamily="18" charset="0"/>
                <a:cs typeface="Times New Roman" panose="02020603050405020304" pitchFamily="18" charset="0"/>
              </a:rPr>
              <a:t>May require significant computational resources</a:t>
            </a:r>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93608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241770C-E6F0-782D-97D9-D9333D9FE677}"/>
              </a:ext>
            </a:extLst>
          </p:cNvPr>
          <p:cNvSpPr txBox="1"/>
          <p:nvPr/>
        </p:nvSpPr>
        <p:spPr>
          <a:xfrm>
            <a:off x="1241659" y="805315"/>
            <a:ext cx="9201752" cy="5588068"/>
          </a:xfrm>
          <a:prstGeom prst="rect">
            <a:avLst/>
          </a:prstGeom>
          <a:noFill/>
        </p:spPr>
        <p:txBody>
          <a:bodyPr wrap="square">
            <a:spAutoFit/>
          </a:bodyPr>
          <a:lstStyle/>
          <a:p>
            <a:pPr>
              <a:lnSpc>
                <a:spcPct val="150000"/>
              </a:lnSpc>
            </a:pPr>
            <a:r>
              <a:rPr lang="en-IN" sz="1600" b="1" dirty="0">
                <a:solidFill>
                  <a:schemeClr val="bg1"/>
                </a:solidFill>
                <a:latin typeface="Times New Roman" panose="02020603050405020304" pitchFamily="18" charset="0"/>
                <a:cs typeface="Times New Roman" panose="02020603050405020304" pitchFamily="18" charset="0"/>
              </a:rPr>
              <a:t>3.YI CAO ET AL: </a:t>
            </a:r>
            <a:r>
              <a:rPr lang="en-IN" sz="1600" dirty="0">
                <a:latin typeface="Times New Roman" panose="02020603050405020304" pitchFamily="18" charset="0"/>
                <a:cs typeface="Times New Roman" panose="02020603050405020304" pitchFamily="18" charset="0"/>
              </a:rPr>
              <a:t>Proposed coverless information hiding based on anime character generation. This method uses </a:t>
            </a:r>
            <a:r>
              <a:rPr lang="en-IN" sz="1600" dirty="0" err="1">
                <a:latin typeface="Times New Roman" panose="02020603050405020304" pitchFamily="18" charset="0"/>
                <a:cs typeface="Times New Roman" panose="02020603050405020304" pitchFamily="18" charset="0"/>
              </a:rPr>
              <a:t>gray</a:t>
            </a:r>
            <a:r>
              <a:rPr lang="en-IN" sz="1600" dirty="0">
                <a:latin typeface="Times New Roman" panose="02020603050405020304" pitchFamily="18" charset="0"/>
                <a:cs typeface="Times New Roman" panose="02020603050405020304" pitchFamily="18" charset="0"/>
              </a:rPr>
              <a:t> gradient co-occurrence to establish a mapping relationship between images and random numbers.</a:t>
            </a:r>
          </a:p>
          <a:p>
            <a:pPr>
              <a:lnSpc>
                <a:spcPct val="150000"/>
              </a:lnSpc>
            </a:pPr>
            <a:r>
              <a:rPr lang="en-IN" sz="1600" b="1" dirty="0">
                <a:solidFill>
                  <a:schemeClr val="bg1"/>
                </a:solidFill>
                <a:latin typeface="Times New Roman" panose="02020603050405020304" pitchFamily="18" charset="0"/>
                <a:cs typeface="Times New Roman" panose="02020603050405020304" pitchFamily="18" charset="0"/>
              </a:rPr>
              <a:t>Method:</a:t>
            </a:r>
            <a:r>
              <a:rPr lang="en-IN" sz="1600" dirty="0">
                <a:latin typeface="Times New Roman" panose="02020603050405020304" pitchFamily="18" charset="0"/>
                <a:cs typeface="Times New Roman" panose="02020603050405020304" pitchFamily="18" charset="0"/>
              </a:rPr>
              <a:t> Anime character generation with </a:t>
            </a:r>
            <a:r>
              <a:rPr lang="en-IN" sz="1600" dirty="0" err="1">
                <a:latin typeface="Times New Roman" panose="02020603050405020304" pitchFamily="18" charset="0"/>
                <a:cs typeface="Times New Roman" panose="02020603050405020304" pitchFamily="18" charset="0"/>
              </a:rPr>
              <a:t>gray</a:t>
            </a:r>
            <a:r>
              <a:rPr lang="en-IN" sz="1600" dirty="0">
                <a:latin typeface="Times New Roman" panose="02020603050405020304" pitchFamily="18" charset="0"/>
                <a:cs typeface="Times New Roman" panose="02020603050405020304" pitchFamily="18" charset="0"/>
              </a:rPr>
              <a:t> gradient co-occurrence</a:t>
            </a:r>
          </a:p>
          <a:p>
            <a:pPr algn="just">
              <a:lnSpc>
                <a:spcPct val="150000"/>
              </a:lnSpc>
            </a:pPr>
            <a:r>
              <a:rPr lang="en-IN" sz="1600" b="1" dirty="0">
                <a:solidFill>
                  <a:schemeClr val="bg1"/>
                </a:solidFill>
                <a:latin typeface="Times New Roman" panose="02020603050405020304" pitchFamily="18" charset="0"/>
                <a:cs typeface="Times New Roman" panose="02020603050405020304" pitchFamily="18" charset="0"/>
              </a:rPr>
              <a:t>Features:</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Potential for high hiding capacity and robustness</a:t>
            </a:r>
          </a:p>
          <a:p>
            <a:pPr>
              <a:lnSpc>
                <a:spcPct val="150000"/>
              </a:lnSpc>
            </a:pPr>
            <a:r>
              <a:rPr lang="en-IN" sz="1600" b="1" dirty="0">
                <a:solidFill>
                  <a:schemeClr val="bg1"/>
                </a:solidFill>
                <a:latin typeface="Times New Roman" panose="02020603050405020304" pitchFamily="18" charset="0"/>
                <a:cs typeface="Times New Roman" panose="02020603050405020304" pitchFamily="18" charset="0"/>
              </a:rPr>
              <a:t>Limitations:</a:t>
            </a:r>
            <a:r>
              <a:rPr lang="en-IN" sz="1600" dirty="0">
                <a:solidFill>
                  <a:schemeClr val="bg1"/>
                </a:solidFill>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May be limited to specific types of images or applications.</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4.ZHOU ET AL.: </a:t>
            </a:r>
            <a:r>
              <a:rPr lang="en-US" sz="1600" dirty="0">
                <a:latin typeface="Times New Roman" panose="02020603050405020304" pitchFamily="18" charset="0"/>
                <a:cs typeface="Times New Roman" panose="02020603050405020304" pitchFamily="18" charset="0"/>
              </a:rPr>
              <a:t>Investigated coverless information hiding using image features like color, texture , edge, and contour. This approach establishes precise connections between features and hiding data.</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Method:</a:t>
            </a:r>
            <a:r>
              <a:rPr lang="en-US" sz="1600" dirty="0">
                <a:latin typeface="Times New Roman" panose="02020603050405020304" pitchFamily="18" charset="0"/>
                <a:cs typeface="Times New Roman" panose="02020603050405020304" pitchFamily="18" charset="0"/>
              </a:rPr>
              <a:t> Image feature-based approach</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Features: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Potential for high hiding capacity and robustness</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Limitations: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May require significant computational resources and expertise</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5.JIAOHUA QIN ET AL. : </a:t>
            </a:r>
            <a:r>
              <a:rPr lang="en-US" sz="1600" dirty="0">
                <a:latin typeface="Times New Roman" panose="02020603050405020304" pitchFamily="18" charset="0"/>
                <a:cs typeface="Times New Roman" panose="02020603050405020304" pitchFamily="18" charset="0"/>
              </a:rPr>
              <a:t>Discussed coverless information hiding methods, highlighting the importance</a:t>
            </a:r>
          </a:p>
          <a:p>
            <a:pPr>
              <a:lnSpc>
                <a:spcPct val="150000"/>
              </a:lnSpc>
            </a:pPr>
            <a:r>
              <a:rPr lang="en-US" sz="1600" dirty="0">
                <a:latin typeface="Times New Roman" panose="02020603050405020304" pitchFamily="18" charset="0"/>
                <a:cs typeface="Times New Roman" panose="02020603050405020304" pitchFamily="18" charset="0"/>
              </a:rPr>
              <a:t>of robust image hashing and mapping relationships between features and hiding data.</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Method:</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Robust image hashing and mapping relationships.</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Features:</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Potential for high security and robustness.</a:t>
            </a:r>
          </a:p>
          <a:p>
            <a:pPr>
              <a:lnSpc>
                <a:spcPct val="150000"/>
              </a:lnSpc>
            </a:pPr>
            <a:r>
              <a:rPr lang="en-US" sz="1600" b="1" dirty="0">
                <a:solidFill>
                  <a:schemeClr val="bg1"/>
                </a:solidFill>
                <a:latin typeface="Times New Roman" panose="02020603050405020304" pitchFamily="18" charset="0"/>
                <a:cs typeface="Times New Roman" panose="02020603050405020304" pitchFamily="18" charset="0"/>
              </a:rPr>
              <a:t>Limitations: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May require significant expertise in image processing and hashing.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200856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7D429E-F93C-CC91-756D-7BBDC5FAFDA9}"/>
              </a:ext>
            </a:extLst>
          </p:cNvPr>
          <p:cNvSpPr>
            <a:spLocks noGrp="1"/>
          </p:cNvSpPr>
          <p:nvPr>
            <p:ph type="title"/>
          </p:nvPr>
        </p:nvSpPr>
        <p:spPr>
          <a:xfrm>
            <a:off x="3697063" y="909233"/>
            <a:ext cx="4888671" cy="621184"/>
          </a:xfrm>
        </p:spPr>
        <p:txBody>
          <a:bodyPr>
            <a:normAutofit/>
          </a:bodyPr>
          <a:lstStyle/>
          <a:p>
            <a:r>
              <a:rPr lang="en-IN" sz="3200" dirty="0">
                <a:solidFill>
                  <a:schemeClr val="tx1"/>
                </a:solidFill>
                <a:latin typeface="Times New Roman" panose="02020603050405020304" pitchFamily="18" charset="0"/>
                <a:cs typeface="Times New Roman" panose="02020603050405020304" pitchFamily="18" charset="0"/>
              </a:rPr>
              <a:t> </a:t>
            </a:r>
            <a:r>
              <a:rPr lang="en-IN" sz="3200" b="1" dirty="0">
                <a:solidFill>
                  <a:schemeClr val="bg1"/>
                </a:solidFill>
                <a:latin typeface="Times New Roman" panose="02020603050405020304" pitchFamily="18" charset="0"/>
                <a:cs typeface="Times New Roman" panose="02020603050405020304" pitchFamily="18" charset="0"/>
              </a:rPr>
              <a:t>EXISTING SYSTEM</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0135AD5-E2A8-6B05-B0E3-8D0D9B7164D3}"/>
              </a:ext>
            </a:extLst>
          </p:cNvPr>
          <p:cNvSpPr>
            <a:spLocks noGrp="1"/>
          </p:cNvSpPr>
          <p:nvPr>
            <p:ph idx="1"/>
          </p:nvPr>
        </p:nvSpPr>
        <p:spPr>
          <a:xfrm>
            <a:off x="1143000" y="2026257"/>
            <a:ext cx="9905999" cy="3678316"/>
          </a:xfrm>
        </p:spPr>
        <p:txBody>
          <a:bodyPr>
            <a:noAutofit/>
          </a:bodyPr>
          <a:lstStyle/>
          <a:p>
            <a:pPr algn="just"/>
            <a:r>
              <a:rPr lang="en-US" sz="1800" dirty="0">
                <a:latin typeface="Times New Roman" panose="02020603050405020304" pitchFamily="18" charset="0"/>
                <a:cs typeface="Times New Roman" panose="02020603050405020304" pitchFamily="18" charset="0"/>
              </a:rPr>
              <a:t>The multi-index approach for coverless information hiding offers strong protection and good concealment of secret information, but it struggles with managing large amounts of text data, making it complicated to use in real-world situations. </a:t>
            </a:r>
          </a:p>
          <a:p>
            <a:pPr algn="just"/>
            <a:r>
              <a:rPr lang="en-US" sz="1800" dirty="0">
                <a:latin typeface="Times New Roman" panose="02020603050405020304" pitchFamily="18" charset="0"/>
                <a:cs typeface="Times New Roman" panose="02020603050405020304" pitchFamily="18" charset="0"/>
              </a:rPr>
              <a:t>Some methods that use </a:t>
            </a:r>
            <a:r>
              <a:rPr lang="en-US" sz="1800" dirty="0" smtClean="0">
                <a:latin typeface="Times New Roman" panose="02020603050405020304" pitchFamily="18" charset="0"/>
                <a:cs typeface="Times New Roman" panose="02020603050405020304" pitchFamily="18" charset="0"/>
              </a:rPr>
              <a:t>image </a:t>
            </a:r>
            <a:r>
              <a:rPr lang="en-US" sz="1800" dirty="0">
                <a:latin typeface="Times New Roman" panose="02020603050405020304" pitchFamily="18" charset="0"/>
                <a:cs typeface="Times New Roman" panose="02020603050405020304" pitchFamily="18" charset="0"/>
              </a:rPr>
              <a:t>annotation can hide a lot of information, but they often need a lot of computer power, which can be a problem for users with less powerful devices.</a:t>
            </a:r>
          </a:p>
          <a:p>
            <a:pPr algn="just"/>
            <a:r>
              <a:rPr lang="en-US" sz="1800" dirty="0">
                <a:latin typeface="Times New Roman" panose="02020603050405020304" pitchFamily="18" charset="0"/>
                <a:cs typeface="Times New Roman" panose="02020603050405020304" pitchFamily="18" charset="0"/>
              </a:rPr>
              <a:t>Techniques that focus on generating anime characters and using gray gradient patterns can effectively hide information and are robust, but they may only work well with certain types of images, limiting their use in other areas.</a:t>
            </a:r>
          </a:p>
          <a:p>
            <a:pPr algn="just"/>
            <a:r>
              <a:rPr lang="en-US" sz="1800" dirty="0">
                <a:latin typeface="Times New Roman" panose="02020603050405020304" pitchFamily="18" charset="0"/>
                <a:cs typeface="Times New Roman" panose="02020603050405020304" pitchFamily="18" charset="0"/>
              </a:rPr>
              <a:t>Approaches that rely on image features, like color and texture, can create strong connections between the features and the hidden data, but they often require advanced computer skills and significant processing power, which can be a barrier for many users.</a:t>
            </a:r>
          </a:p>
          <a:p>
            <a:pPr algn="just"/>
            <a:r>
              <a:rPr lang="en-US" sz="1800" dirty="0">
                <a:latin typeface="Times New Roman" panose="02020603050405020304" pitchFamily="18" charset="0"/>
                <a:cs typeface="Times New Roman" panose="02020603050405020304" pitchFamily="18" charset="0"/>
              </a:rPr>
              <a:t>Methods that use robust image hashing and mapping relationships provide high security for hiding information, but they demand a lot of expertise in image processing, making them less accessible for people who are not specialists in the field.</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5329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D535C8-7F6A-8A54-AD07-8338A11295CE}"/>
              </a:ext>
            </a:extLst>
          </p:cNvPr>
          <p:cNvSpPr>
            <a:spLocks noGrp="1"/>
          </p:cNvSpPr>
          <p:nvPr>
            <p:ph type="title"/>
          </p:nvPr>
        </p:nvSpPr>
        <p:spPr>
          <a:xfrm>
            <a:off x="2003267" y="772523"/>
            <a:ext cx="7872254" cy="565389"/>
          </a:xfrm>
        </p:spPr>
        <p:txBody>
          <a:bodyPr>
            <a:normAutofit fontScale="90000"/>
          </a:bodyPr>
          <a:lstStyle/>
          <a:p>
            <a:r>
              <a:rPr lang="en-IN" sz="3200" dirty="0">
                <a:solidFill>
                  <a:schemeClr val="tx1"/>
                </a:solidFill>
              </a:rPr>
              <a:t> </a:t>
            </a:r>
            <a:r>
              <a:rPr lang="en-IN" sz="3600" b="1" dirty="0">
                <a:solidFill>
                  <a:schemeClr val="bg1"/>
                </a:solidFill>
                <a:latin typeface="Times New Roman" panose="02020603050405020304" pitchFamily="18" charset="0"/>
                <a:cs typeface="Times New Roman" panose="02020603050405020304" pitchFamily="18" charset="0"/>
              </a:rPr>
              <a:t>PROPOSED SYSTEM WITH FEATURES</a:t>
            </a:r>
          </a:p>
        </p:txBody>
      </p:sp>
      <p:sp>
        <p:nvSpPr>
          <p:cNvPr id="3" name="Content Placeholder 2">
            <a:extLst>
              <a:ext uri="{FF2B5EF4-FFF2-40B4-BE49-F238E27FC236}">
                <a16:creationId xmlns:a16="http://schemas.microsoft.com/office/drawing/2014/main" xmlns="" id="{585CC7C5-4718-F2C1-26AD-F20F43DB90A9}"/>
              </a:ext>
            </a:extLst>
          </p:cNvPr>
          <p:cNvSpPr>
            <a:spLocks noGrp="1"/>
          </p:cNvSpPr>
          <p:nvPr>
            <p:ph idx="1"/>
          </p:nvPr>
        </p:nvSpPr>
        <p:spPr>
          <a:xfrm>
            <a:off x="1039529" y="1786656"/>
            <a:ext cx="10260529" cy="3541714"/>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The proposed system introduces a novel coverless information hiding method that leverages the vast number of web pages available on the Internet to conceal secret information</a:t>
            </a:r>
            <a:r>
              <a:rPr lang="en-US" sz="1800" dirty="0"/>
              <a:t>. </a:t>
            </a:r>
            <a:r>
              <a:rPr lang="en-US" sz="1800" dirty="0">
                <a:latin typeface="Times New Roman" panose="02020603050405020304" pitchFamily="18" charset="0"/>
                <a:cs typeface="Times New Roman" panose="02020603050405020304" pitchFamily="18" charset="0"/>
              </a:rPr>
              <a:t>A significant advantage of this proposed method is the absence of any modification traces in the web text, ensuring high security and undetectability. It also boasts a high hiding capacity  by utilizing the immense volume of web data and maintains a stable hiding success rate. </a:t>
            </a:r>
          </a:p>
          <a:p>
            <a:pPr marL="0" indent="0" algn="just">
              <a:buNone/>
            </a:pPr>
            <a:endParaRPr lang="en-US" sz="18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1800" b="1" dirty="0">
                <a:solidFill>
                  <a:schemeClr val="bg1"/>
                </a:solidFill>
                <a:latin typeface="Times New Roman" panose="02020603050405020304" pitchFamily="18" charset="0"/>
                <a:cs typeface="Times New Roman" panose="02020603050405020304" pitchFamily="18" charset="0"/>
              </a:rPr>
              <a:t>FEATURES : </a:t>
            </a:r>
          </a:p>
          <a:p>
            <a:pPr lvl="0" algn="just"/>
            <a:r>
              <a:rPr lang="en-US" sz="1800" b="1" dirty="0">
                <a:solidFill>
                  <a:schemeClr val="bg1"/>
                </a:solidFill>
                <a:latin typeface="Times New Roman" panose="02020603050405020304" pitchFamily="18" charset="0"/>
                <a:cs typeface="Times New Roman" panose="02020603050405020304" pitchFamily="18" charset="0"/>
              </a:rPr>
              <a:t>No modification of original web texts:</a:t>
            </a:r>
            <a:r>
              <a:rPr lang="en-US" sz="1800" dirty="0">
                <a:latin typeface="Times New Roman" panose="02020603050405020304" pitchFamily="18" charset="0"/>
                <a:cs typeface="Times New Roman" panose="02020603050405020304" pitchFamily="18" charset="0"/>
              </a:rPr>
              <a:t> This ensures high security and undetectability, as the carrier medium remains      unchanged.</a:t>
            </a:r>
            <a:endParaRPr lang="en-IN" sz="1800" dirty="0">
              <a:latin typeface="Times New Roman" panose="02020603050405020304" pitchFamily="18" charset="0"/>
              <a:cs typeface="Times New Roman" panose="02020603050405020304" pitchFamily="18" charset="0"/>
            </a:endParaRPr>
          </a:p>
          <a:p>
            <a:pPr lvl="0" algn="just"/>
            <a:r>
              <a:rPr lang="en-US" sz="1800" b="1" dirty="0">
                <a:solidFill>
                  <a:schemeClr val="bg1"/>
                </a:solidFill>
                <a:latin typeface="Times New Roman" panose="02020603050405020304" pitchFamily="18" charset="0"/>
                <a:cs typeface="Times New Roman" panose="02020603050405020304" pitchFamily="18" charset="0"/>
              </a:rPr>
              <a:t>Utilizes vast web data:</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system takes advantage of the large amount of web data available, which significantly  increases its hiding capacity (HC).</a:t>
            </a:r>
            <a:endParaRPr lang="en-IN" sz="1800" dirty="0">
              <a:latin typeface="Times New Roman" panose="02020603050405020304" pitchFamily="18" charset="0"/>
              <a:cs typeface="Times New Roman" panose="02020603050405020304" pitchFamily="18" charset="0"/>
            </a:endParaRPr>
          </a:p>
          <a:p>
            <a:pPr lvl="0" algn="just"/>
            <a:r>
              <a:rPr lang="en-US" sz="1800" b="1" dirty="0">
                <a:solidFill>
                  <a:schemeClr val="bg1"/>
                </a:solidFill>
                <a:latin typeface="Times New Roman" panose="02020603050405020304" pitchFamily="18" charset="0"/>
                <a:cs typeface="Times New Roman" panose="02020603050405020304" pitchFamily="18" charset="0"/>
              </a:rPr>
              <a:t>Maintains stable hiding rate (SR):</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system provides reliable data transmission by maintaining a stable hiding rate.</a:t>
            </a:r>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08045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94707C-DE76-E41C-BA24-FBFBD1B647BB}"/>
              </a:ext>
            </a:extLst>
          </p:cNvPr>
          <p:cNvSpPr>
            <a:spLocks noGrp="1"/>
          </p:cNvSpPr>
          <p:nvPr>
            <p:ph type="title"/>
          </p:nvPr>
        </p:nvSpPr>
        <p:spPr>
          <a:xfrm>
            <a:off x="3283434" y="481594"/>
            <a:ext cx="3829636" cy="692688"/>
          </a:xfrm>
        </p:spPr>
        <p:txBody>
          <a:bodyPr/>
          <a:lstStyle/>
          <a:p>
            <a:r>
              <a:rPr lang="en-IN" sz="3200" b="1" dirty="0">
                <a:solidFill>
                  <a:schemeClr val="bg1"/>
                </a:solidFill>
                <a:latin typeface="Times New Roman" panose="02020603050405020304" pitchFamily="18" charset="0"/>
                <a:cs typeface="Times New Roman" panose="02020603050405020304" pitchFamily="18" charset="0"/>
              </a:rPr>
              <a:t>SYSTEM DESIGN</a:t>
            </a:r>
          </a:p>
        </p:txBody>
      </p:sp>
      <p:pic>
        <p:nvPicPr>
          <p:cNvPr id="4" name="image2.png">
            <a:extLst>
              <a:ext uri="{FF2B5EF4-FFF2-40B4-BE49-F238E27FC236}">
                <a16:creationId xmlns:a16="http://schemas.microsoft.com/office/drawing/2014/main" xmlns="" id="{7ABA0F8E-7101-088A-B797-54F2B1E1F5F5}"/>
              </a:ext>
            </a:extLst>
          </p:cNvPr>
          <p:cNvPicPr>
            <a:picLocks noGrp="1"/>
          </p:cNvPicPr>
          <p:nvPr>
            <p:ph idx="1"/>
          </p:nvPr>
        </p:nvPicPr>
        <p:blipFill>
          <a:blip r:embed="rId2"/>
          <a:srcRect l="4866" t="1432" r="-4866" b="-1432"/>
          <a:stretch>
            <a:fillRect/>
          </a:stretch>
        </p:blipFill>
        <p:spPr>
          <a:xfrm>
            <a:off x="7834964" y="1424539"/>
            <a:ext cx="4119613" cy="5091764"/>
          </a:xfrm>
          <a:prstGeom prst="rect">
            <a:avLst/>
          </a:prstGeom>
          <a:ln/>
        </p:spPr>
      </p:pic>
      <p:sp>
        <p:nvSpPr>
          <p:cNvPr id="5" name="TextBox 4">
            <a:extLst>
              <a:ext uri="{FF2B5EF4-FFF2-40B4-BE49-F238E27FC236}">
                <a16:creationId xmlns:a16="http://schemas.microsoft.com/office/drawing/2014/main" xmlns="" id="{619C43FA-4E4F-796B-6E61-D91BB929044A}"/>
              </a:ext>
            </a:extLst>
          </p:cNvPr>
          <p:cNvSpPr txBox="1"/>
          <p:nvPr/>
        </p:nvSpPr>
        <p:spPr>
          <a:xfrm>
            <a:off x="693018" y="1886552"/>
            <a:ext cx="6266047" cy="4801314"/>
          </a:xfrm>
          <a:prstGeom prst="rect">
            <a:avLst/>
          </a:prstGeom>
          <a:noFill/>
        </p:spPr>
        <p:txBody>
          <a:bodyPr wrap="square" rtlCol="0">
            <a:spAutoFit/>
          </a:bodyPr>
          <a:lstStyle/>
          <a:p>
            <a:pPr algn="just"/>
            <a:r>
              <a:rPr lang="en-IN" b="1" dirty="0">
                <a:solidFill>
                  <a:schemeClr val="bg1"/>
                </a:solidFill>
                <a:latin typeface="Times New Roman" panose="02020603050405020304" pitchFamily="18" charset="0"/>
                <a:cs typeface="Times New Roman" panose="02020603050405020304" pitchFamily="18" charset="0"/>
              </a:rPr>
              <a:t>1.Sender _ Side </a:t>
            </a:r>
          </a:p>
          <a:p>
            <a:pPr marL="342900" indent="-342900" algn="just">
              <a:buAutoNum type="arabicPeriod"/>
            </a:pPr>
            <a:endParaRPr lang="en-IN" b="1" dirty="0">
              <a:solidFill>
                <a:schemeClr val="bg1"/>
              </a:solidFill>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section focuses on taking raw input and transforming it into a format suitable for storage and transmission.</a:t>
            </a:r>
          </a:p>
          <a:p>
            <a:pPr algn="just"/>
            <a:endParaRPr lang="en-IN" dirty="0">
              <a:latin typeface="Times New Roman" panose="02020603050405020304" pitchFamily="18" charset="0"/>
              <a:cs typeface="Times New Roman" panose="02020603050405020304" pitchFamily="18" charset="0"/>
            </a:endParaRPr>
          </a:p>
          <a:p>
            <a:pPr algn="just"/>
            <a:r>
              <a:rPr lang="en-IN" b="1" dirty="0">
                <a:solidFill>
                  <a:schemeClr val="bg1"/>
                </a:solidFill>
                <a:latin typeface="Times New Roman" panose="02020603050405020304" pitchFamily="18" charset="0"/>
                <a:cs typeface="Times New Roman" panose="02020603050405020304" pitchFamily="18" charset="0"/>
              </a:rPr>
              <a:t>2. Storage </a:t>
            </a:r>
            <a:endParaRPr lang="en-IN" dirty="0">
              <a:solidFill>
                <a:schemeClr val="bg1"/>
              </a:solidFill>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This section is dedicated to holding the processed and encoded information.</a:t>
            </a:r>
          </a:p>
          <a:p>
            <a:pPr algn="just"/>
            <a:endParaRPr lang="en-IN" dirty="0">
              <a:latin typeface="Times New Roman" panose="02020603050405020304" pitchFamily="18" charset="0"/>
              <a:cs typeface="Times New Roman" panose="02020603050405020304" pitchFamily="18" charset="0"/>
            </a:endParaRPr>
          </a:p>
          <a:p>
            <a:pPr algn="just"/>
            <a:r>
              <a:rPr lang="en-IN" b="1" dirty="0">
                <a:solidFill>
                  <a:schemeClr val="bg1"/>
                </a:solidFill>
                <a:latin typeface="Times New Roman" panose="02020603050405020304" pitchFamily="18" charset="0"/>
                <a:cs typeface="Times New Roman" panose="02020603050405020304" pitchFamily="18" charset="0"/>
              </a:rPr>
              <a:t>3. Receiver _ Side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section handles the reception and display of the processed information.</a:t>
            </a:r>
          </a:p>
          <a:p>
            <a:pPr algn="just"/>
            <a:endParaRPr lang="en-IN" dirty="0">
              <a:latin typeface="Times New Roman" panose="02020603050405020304" pitchFamily="18" charset="0"/>
              <a:cs typeface="Times New Roman" panose="02020603050405020304" pitchFamily="18" charset="0"/>
            </a:endParaRPr>
          </a:p>
          <a:p>
            <a:pPr marL="342900" indent="-342900" algn="just">
              <a:buAutoNum type="arabicPeriod"/>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xmlns="" val="4087475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1120FD-B56F-208B-EE0F-E94B63020E73}"/>
              </a:ext>
            </a:extLst>
          </p:cNvPr>
          <p:cNvSpPr>
            <a:spLocks noGrp="1"/>
          </p:cNvSpPr>
          <p:nvPr>
            <p:ph type="title"/>
          </p:nvPr>
        </p:nvSpPr>
        <p:spPr>
          <a:xfrm>
            <a:off x="3851325" y="802106"/>
            <a:ext cx="4099144" cy="596436"/>
          </a:xfrm>
        </p:spPr>
        <p:txBody>
          <a:bodyPr/>
          <a:lstStyle/>
          <a:p>
            <a:r>
              <a:rPr lang="en-IN" sz="3200" b="1" dirty="0">
                <a:solidFill>
                  <a:schemeClr val="bg1"/>
                </a:solidFill>
                <a:latin typeface="Times New Roman" panose="02020603050405020304" pitchFamily="18" charset="0"/>
                <a:cs typeface="Times New Roman" panose="02020603050405020304" pitchFamily="18" charset="0"/>
              </a:rPr>
              <a:t>IMPLEMENTATION </a:t>
            </a:r>
          </a:p>
        </p:txBody>
      </p:sp>
      <p:sp>
        <p:nvSpPr>
          <p:cNvPr id="3" name="Content Placeholder 2">
            <a:extLst>
              <a:ext uri="{FF2B5EF4-FFF2-40B4-BE49-F238E27FC236}">
                <a16:creationId xmlns:a16="http://schemas.microsoft.com/office/drawing/2014/main" xmlns="" id="{01E40CBD-EF71-1224-5C15-8710FCD11581}"/>
              </a:ext>
            </a:extLst>
          </p:cNvPr>
          <p:cNvSpPr>
            <a:spLocks noGrp="1"/>
          </p:cNvSpPr>
          <p:nvPr>
            <p:ph idx="1"/>
          </p:nvPr>
        </p:nvSpPr>
        <p:spPr>
          <a:xfrm>
            <a:off x="1016684" y="2120295"/>
            <a:ext cx="10004242" cy="4195481"/>
          </a:xfrm>
        </p:spPr>
        <p:txBody>
          <a:bodyPr/>
          <a:lstStyle/>
          <a:p>
            <a:pPr algn="just"/>
            <a:r>
              <a:rPr lang="en-US" sz="1800" dirty="0">
                <a:latin typeface="Times New Roman" panose="02020603050405020304" pitchFamily="18" charset="0"/>
                <a:cs typeface="Times New Roman" panose="02020603050405020304" pitchFamily="18" charset="0"/>
              </a:rPr>
              <a:t>we have designed and implemented a system using Python as the central programming language. Python provides flexibility and a rich ecosystem of libraries that are essential for processing natural language. </a:t>
            </a:r>
          </a:p>
          <a:p>
            <a:pPr algn="just"/>
            <a:r>
              <a:rPr lang="en-US" sz="1800" dirty="0">
                <a:latin typeface="Times New Roman" panose="02020603050405020304" pitchFamily="18" charset="0"/>
                <a:cs typeface="Times New Roman" panose="02020603050405020304" pitchFamily="18" charset="0"/>
              </a:rPr>
              <a:t>We use the Natural Language Toolkit (NLTK) for tokenization, parsing, and synonym analysis, while web scraping is achieved through libraries like Beautiful Soup and Requests to gather relevant textual content from publicly available sources. </a:t>
            </a:r>
          </a:p>
          <a:p>
            <a:pPr algn="just"/>
            <a:r>
              <a:rPr lang="en-US" sz="1800" dirty="0">
                <a:latin typeface="Times New Roman" panose="02020603050405020304" pitchFamily="18" charset="0"/>
                <a:cs typeface="Times New Roman" panose="02020603050405020304" pitchFamily="18" charset="0"/>
              </a:rPr>
              <a:t>For storing and managing mappings between messages and sentences, SQLite serves as an efficient and lightweight database solution. </a:t>
            </a:r>
          </a:p>
          <a:p>
            <a:pPr algn="just"/>
            <a:r>
              <a:rPr lang="en-US" sz="1800" dirty="0">
                <a:latin typeface="Times New Roman" panose="02020603050405020304" pitchFamily="18" charset="0"/>
                <a:cs typeface="Times New Roman" panose="02020603050405020304" pitchFamily="18" charset="0"/>
              </a:rPr>
              <a:t>The system is presented to users through a simple Flask web application, allowing them to input secret data and receive a natural language sentence in return, or decode a sentence back into its hidden form.</a:t>
            </a:r>
            <a:endParaRPr lang="en-IN" sz="1800" dirty="0">
              <a:latin typeface="Times New Roman" panose="02020603050405020304" pitchFamily="18"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xmlns="" val="2687750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D54945-A60D-AC45-6853-B179C8394735}"/>
              </a:ext>
            </a:extLst>
          </p:cNvPr>
          <p:cNvSpPr>
            <a:spLocks noGrp="1"/>
          </p:cNvSpPr>
          <p:nvPr>
            <p:ph type="title"/>
          </p:nvPr>
        </p:nvSpPr>
        <p:spPr>
          <a:xfrm>
            <a:off x="5100440" y="732698"/>
            <a:ext cx="1991119" cy="839755"/>
          </a:xfrm>
        </p:spPr>
        <p:txBody>
          <a:bodyPr/>
          <a:lstStyle/>
          <a:p>
            <a:r>
              <a:rPr lang="en-IN" sz="3200" b="1" dirty="0">
                <a:solidFill>
                  <a:schemeClr val="bg1"/>
                </a:solidFill>
                <a:latin typeface="Times New Roman" panose="02020603050405020304" pitchFamily="18" charset="0"/>
                <a:cs typeface="Times New Roman" panose="02020603050405020304" pitchFamily="18" charset="0"/>
              </a:rPr>
              <a:t>RESULT</a:t>
            </a:r>
          </a:p>
        </p:txBody>
      </p:sp>
      <p:pic>
        <p:nvPicPr>
          <p:cNvPr id="7" name="Content Placeholder 6">
            <a:extLst>
              <a:ext uri="{FF2B5EF4-FFF2-40B4-BE49-F238E27FC236}">
                <a16:creationId xmlns:a16="http://schemas.microsoft.com/office/drawing/2014/main" xmlns="" id="{8D0C19CE-228D-47D3-80AC-D623A9433664}"/>
              </a:ext>
            </a:extLst>
          </p:cNvPr>
          <p:cNvPicPr>
            <a:picLocks noGrp="1" noChangeAspect="1"/>
          </p:cNvPicPr>
          <p:nvPr>
            <p:ph idx="1"/>
          </p:nvPr>
        </p:nvPicPr>
        <p:blipFill>
          <a:blip r:embed="rId2"/>
          <a:stretch>
            <a:fillRect/>
          </a:stretch>
        </p:blipFill>
        <p:spPr>
          <a:xfrm>
            <a:off x="446858" y="2062772"/>
            <a:ext cx="5347550" cy="2732455"/>
          </a:xfrm>
        </p:spPr>
      </p:pic>
      <p:pic>
        <p:nvPicPr>
          <p:cNvPr id="3" name="Content Placeholder 6">
            <a:extLst>
              <a:ext uri="{FF2B5EF4-FFF2-40B4-BE49-F238E27FC236}">
                <a16:creationId xmlns:a16="http://schemas.microsoft.com/office/drawing/2014/main" xmlns="" id="{9ACB764C-BFDC-3DDC-E431-30E9736F60A7}"/>
              </a:ext>
            </a:extLst>
          </p:cNvPr>
          <p:cNvPicPr>
            <a:picLocks noChangeAspect="1"/>
          </p:cNvPicPr>
          <p:nvPr/>
        </p:nvPicPr>
        <p:blipFill>
          <a:blip r:embed="rId3"/>
          <a:stretch>
            <a:fillRect/>
          </a:stretch>
        </p:blipFill>
        <p:spPr>
          <a:xfrm>
            <a:off x="6096000" y="2062771"/>
            <a:ext cx="5597587" cy="2732455"/>
          </a:xfrm>
          <a:prstGeom prst="rect">
            <a:avLst/>
          </a:prstGeom>
        </p:spPr>
      </p:pic>
      <p:sp>
        <p:nvSpPr>
          <p:cNvPr id="4" name="TextBox 3">
            <a:extLst>
              <a:ext uri="{FF2B5EF4-FFF2-40B4-BE49-F238E27FC236}">
                <a16:creationId xmlns:a16="http://schemas.microsoft.com/office/drawing/2014/main" xmlns="" id="{0D546D01-63B7-EEA4-0B96-EF7CB02B624E}"/>
              </a:ext>
            </a:extLst>
          </p:cNvPr>
          <p:cNvSpPr txBox="1"/>
          <p:nvPr/>
        </p:nvSpPr>
        <p:spPr>
          <a:xfrm>
            <a:off x="1761423" y="5024388"/>
            <a:ext cx="1838965" cy="369332"/>
          </a:xfrm>
          <a:prstGeom prst="rect">
            <a:avLst/>
          </a:prstGeom>
          <a:noFill/>
        </p:spPr>
        <p:txBody>
          <a:bodyPr wrap="none" rtlCol="0">
            <a:spAutoFit/>
          </a:bodyPr>
          <a:lstStyle/>
          <a:p>
            <a:r>
              <a:rPr lang="en-IN" b="1" dirty="0">
                <a:solidFill>
                  <a:schemeClr val="bg1"/>
                </a:solidFill>
                <a:latin typeface="Times New Roman" panose="02020603050405020304" pitchFamily="18" charset="0"/>
                <a:cs typeface="Times New Roman" panose="02020603050405020304" pitchFamily="18" charset="0"/>
              </a:rPr>
              <a:t>Fig 1 : </a:t>
            </a:r>
            <a:r>
              <a:rPr lang="en-IN" dirty="0">
                <a:latin typeface="Times New Roman" panose="02020603050405020304" pitchFamily="18" charset="0"/>
                <a:cs typeface="Times New Roman" panose="02020603050405020304" pitchFamily="18" charset="0"/>
              </a:rPr>
              <a:t>login page</a:t>
            </a:r>
          </a:p>
        </p:txBody>
      </p:sp>
      <p:sp>
        <p:nvSpPr>
          <p:cNvPr id="5" name="TextBox 4">
            <a:extLst>
              <a:ext uri="{FF2B5EF4-FFF2-40B4-BE49-F238E27FC236}">
                <a16:creationId xmlns:a16="http://schemas.microsoft.com/office/drawing/2014/main" xmlns="" id="{7F046FA2-DB0A-1EDC-C641-F8D53A8A9DDF}"/>
              </a:ext>
            </a:extLst>
          </p:cNvPr>
          <p:cNvSpPr txBox="1"/>
          <p:nvPr/>
        </p:nvSpPr>
        <p:spPr>
          <a:xfrm>
            <a:off x="7719460" y="5024388"/>
            <a:ext cx="2031325" cy="369332"/>
          </a:xfrm>
          <a:prstGeom prst="rect">
            <a:avLst/>
          </a:prstGeom>
          <a:noFill/>
        </p:spPr>
        <p:txBody>
          <a:bodyPr wrap="none" rtlCol="0">
            <a:spAutoFit/>
          </a:bodyPr>
          <a:lstStyle/>
          <a:p>
            <a:r>
              <a:rPr lang="en-IN" b="1" dirty="0">
                <a:solidFill>
                  <a:schemeClr val="bg1"/>
                </a:solidFill>
                <a:latin typeface="Times New Roman" panose="02020603050405020304" pitchFamily="18" charset="0"/>
                <a:cs typeface="Times New Roman" panose="02020603050405020304" pitchFamily="18" charset="0"/>
              </a:rPr>
              <a:t>Fig 2 : </a:t>
            </a:r>
            <a:r>
              <a:rPr lang="en-IN" dirty="0">
                <a:latin typeface="Times New Roman" panose="02020603050405020304" pitchFamily="18" charset="0"/>
                <a:cs typeface="Times New Roman" panose="02020603050405020304" pitchFamily="18" charset="0"/>
              </a:rPr>
              <a:t>sender panel</a:t>
            </a:r>
          </a:p>
        </p:txBody>
      </p:sp>
    </p:spTree>
    <p:extLst>
      <p:ext uri="{BB962C8B-B14F-4D97-AF65-F5344CB8AC3E}">
        <p14:creationId xmlns:p14="http://schemas.microsoft.com/office/powerpoint/2010/main" xmlns="" val="1668502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D43BDB-D844-5AD7-8F4A-CB48510D8EC2}"/>
              </a:ext>
            </a:extLst>
          </p:cNvPr>
          <p:cNvSpPr>
            <a:spLocks noGrp="1"/>
          </p:cNvSpPr>
          <p:nvPr>
            <p:ph type="ctrTitle"/>
          </p:nvPr>
        </p:nvSpPr>
        <p:spPr/>
        <p:txBody>
          <a:bodyPr/>
          <a:lstStyle/>
          <a:p>
            <a:r>
              <a:rPr lang="en-US" dirty="0"/>
              <a:t>     </a:t>
            </a:r>
            <a:endParaRPr lang="en-IN" dirty="0"/>
          </a:p>
        </p:txBody>
      </p:sp>
      <p:sp>
        <p:nvSpPr>
          <p:cNvPr id="4" name="Text Placeholder 3">
            <a:extLst>
              <a:ext uri="{FF2B5EF4-FFF2-40B4-BE49-F238E27FC236}">
                <a16:creationId xmlns:a16="http://schemas.microsoft.com/office/drawing/2014/main" xmlns="" id="{07F004A8-A66D-07FC-9268-5C5076C2C38D}"/>
              </a:ext>
            </a:extLst>
          </p:cNvPr>
          <p:cNvSpPr>
            <a:spLocks noGrp="1"/>
          </p:cNvSpPr>
          <p:nvPr>
            <p:ph type="subTitle" idx="1"/>
          </p:nvPr>
        </p:nvSpPr>
        <p:spPr>
          <a:xfrm>
            <a:off x="1154955" y="5269468"/>
            <a:ext cx="3332895" cy="369332"/>
          </a:xfrm>
        </p:spPr>
        <p:txBody>
          <a:bodyPr>
            <a:normAutofit lnSpcReduction="10000"/>
          </a:bodyPr>
          <a:lstStyle/>
          <a:p>
            <a:r>
              <a:rPr lang="en-US" dirty="0"/>
              <a:t>       </a:t>
            </a:r>
            <a:endParaRPr lang="en-IN" dirty="0"/>
          </a:p>
        </p:txBody>
      </p:sp>
      <p:pic>
        <p:nvPicPr>
          <p:cNvPr id="10" name="Picture 9">
            <a:extLst>
              <a:ext uri="{FF2B5EF4-FFF2-40B4-BE49-F238E27FC236}">
                <a16:creationId xmlns:a16="http://schemas.microsoft.com/office/drawing/2014/main" xmlns="" id="{81FC00C2-4511-48C8-BB68-B7956620D3C0}"/>
              </a:ext>
            </a:extLst>
          </p:cNvPr>
          <p:cNvPicPr>
            <a:picLocks noChangeAspect="1"/>
          </p:cNvPicPr>
          <p:nvPr/>
        </p:nvPicPr>
        <p:blipFill>
          <a:blip r:embed="rId2"/>
          <a:stretch>
            <a:fillRect/>
          </a:stretch>
        </p:blipFill>
        <p:spPr>
          <a:xfrm>
            <a:off x="455594" y="1732547"/>
            <a:ext cx="5435069" cy="3143492"/>
          </a:xfrm>
          <a:prstGeom prst="rect">
            <a:avLst/>
          </a:prstGeom>
        </p:spPr>
      </p:pic>
      <p:pic>
        <p:nvPicPr>
          <p:cNvPr id="3" name="Picture Placeholder 7">
            <a:extLst>
              <a:ext uri="{FF2B5EF4-FFF2-40B4-BE49-F238E27FC236}">
                <a16:creationId xmlns:a16="http://schemas.microsoft.com/office/drawing/2014/main" xmlns="" id="{9CB2087B-9522-4BCB-E289-709F8037D804}"/>
              </a:ext>
            </a:extLst>
          </p:cNvPr>
          <p:cNvPicPr>
            <a:picLocks noChangeAspect="1"/>
          </p:cNvPicPr>
          <p:nvPr/>
        </p:nvPicPr>
        <p:blipFill>
          <a:blip r:embed="rId3"/>
          <a:srcRect t="13294" b="13294"/>
          <a:stretch>
            <a:fillRect/>
          </a:stretch>
        </p:blipFill>
        <p:spPr>
          <a:xfrm>
            <a:off x="6096000" y="1732548"/>
            <a:ext cx="5640406" cy="3143492"/>
          </a:xfrm>
          <a:prstGeom prst="rect">
            <a:avLst/>
          </a:prstGeom>
        </p:spPr>
      </p:pic>
      <p:sp>
        <p:nvSpPr>
          <p:cNvPr id="5" name="TextBox 4">
            <a:extLst>
              <a:ext uri="{FF2B5EF4-FFF2-40B4-BE49-F238E27FC236}">
                <a16:creationId xmlns:a16="http://schemas.microsoft.com/office/drawing/2014/main" xmlns="" id="{568C8B9B-A110-CC92-8F37-0925B7F887CF}"/>
              </a:ext>
            </a:extLst>
          </p:cNvPr>
          <p:cNvSpPr txBox="1"/>
          <p:nvPr/>
        </p:nvSpPr>
        <p:spPr>
          <a:xfrm>
            <a:off x="1410466" y="5170810"/>
            <a:ext cx="3525324" cy="369332"/>
          </a:xfrm>
          <a:prstGeom prst="rect">
            <a:avLst/>
          </a:prstGeom>
          <a:noFill/>
        </p:spPr>
        <p:txBody>
          <a:bodyPr wrap="none" rtlCol="0">
            <a:spAutoFit/>
          </a:bodyPr>
          <a:lstStyle/>
          <a:p>
            <a:r>
              <a:rPr lang="en-IN" b="1" dirty="0">
                <a:solidFill>
                  <a:schemeClr val="bg1"/>
                </a:solidFill>
                <a:latin typeface="Times New Roman" panose="02020603050405020304" pitchFamily="18" charset="0"/>
                <a:cs typeface="Times New Roman" panose="02020603050405020304" pitchFamily="18" charset="0"/>
              </a:rPr>
              <a:t>Fig 3 : </a:t>
            </a:r>
            <a:r>
              <a:rPr lang="en-IN" dirty="0">
                <a:latin typeface="Times New Roman" panose="02020603050405020304" pitchFamily="18" charset="0"/>
                <a:cs typeface="Times New Roman" panose="02020603050405020304" pitchFamily="18" charset="0"/>
              </a:rPr>
              <a:t>receiver decryption interface</a:t>
            </a:r>
          </a:p>
        </p:txBody>
      </p:sp>
      <p:sp>
        <p:nvSpPr>
          <p:cNvPr id="7" name="TextBox 6">
            <a:extLst>
              <a:ext uri="{FF2B5EF4-FFF2-40B4-BE49-F238E27FC236}">
                <a16:creationId xmlns:a16="http://schemas.microsoft.com/office/drawing/2014/main" xmlns="" id="{4F56FE4A-ED0C-0D45-8884-68CCCAA87509}"/>
              </a:ext>
            </a:extLst>
          </p:cNvPr>
          <p:cNvSpPr txBox="1"/>
          <p:nvPr/>
        </p:nvSpPr>
        <p:spPr>
          <a:xfrm>
            <a:off x="7411453" y="5170810"/>
            <a:ext cx="2864887" cy="369332"/>
          </a:xfrm>
          <a:prstGeom prst="rect">
            <a:avLst/>
          </a:prstGeom>
          <a:noFill/>
        </p:spPr>
        <p:txBody>
          <a:bodyPr wrap="none" rtlCol="0">
            <a:spAutoFit/>
          </a:bodyPr>
          <a:lstStyle/>
          <a:p>
            <a:r>
              <a:rPr lang="en-IN" b="1" dirty="0">
                <a:solidFill>
                  <a:schemeClr val="bg1"/>
                </a:solidFill>
                <a:latin typeface="Times New Roman" panose="02020603050405020304" pitchFamily="18" charset="0"/>
                <a:cs typeface="Times New Roman" panose="02020603050405020304" pitchFamily="18" charset="0"/>
              </a:rPr>
              <a:t>Fig 4 : </a:t>
            </a:r>
            <a:r>
              <a:rPr lang="en-IN" dirty="0">
                <a:latin typeface="Times New Roman" panose="02020603050405020304" pitchFamily="18" charset="0"/>
                <a:cs typeface="Times New Roman" panose="02020603050405020304" pitchFamily="18" charset="0"/>
              </a:rPr>
              <a:t>transmission decoded</a:t>
            </a:r>
          </a:p>
        </p:txBody>
      </p:sp>
    </p:spTree>
    <p:extLst>
      <p:ext uri="{BB962C8B-B14F-4D97-AF65-F5344CB8AC3E}">
        <p14:creationId xmlns:p14="http://schemas.microsoft.com/office/powerpoint/2010/main" xmlns="" val="2405952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3B1BBE-D770-C3F5-1006-F6428B94538E}"/>
              </a:ext>
            </a:extLst>
          </p:cNvPr>
          <p:cNvSpPr>
            <a:spLocks noGrp="1"/>
          </p:cNvSpPr>
          <p:nvPr>
            <p:ph type="title"/>
          </p:nvPr>
        </p:nvSpPr>
        <p:spPr>
          <a:xfrm>
            <a:off x="4602095" y="731851"/>
            <a:ext cx="2116340" cy="606061"/>
          </a:xfrm>
        </p:spPr>
        <p:txBody>
          <a:bodyPr/>
          <a:lstStyle/>
          <a:p>
            <a:r>
              <a:rPr lang="en-IN" sz="3200" b="1" dirty="0">
                <a:solidFill>
                  <a:schemeClr val="bg1"/>
                </a:solidFill>
                <a:latin typeface="Times New Roman" panose="02020603050405020304" pitchFamily="18" charset="0"/>
                <a:cs typeface="Times New Roman" panose="02020603050405020304" pitchFamily="18" charset="0"/>
              </a:rPr>
              <a:t>TESTING</a:t>
            </a:r>
          </a:p>
        </p:txBody>
      </p:sp>
      <p:sp>
        <p:nvSpPr>
          <p:cNvPr id="4" name="Rectangle 1">
            <a:extLst>
              <a:ext uri="{FF2B5EF4-FFF2-40B4-BE49-F238E27FC236}">
                <a16:creationId xmlns:a16="http://schemas.microsoft.com/office/drawing/2014/main" xmlns="" id="{9A285232-96FB-51BD-7747-9264DF61919C}"/>
              </a:ext>
            </a:extLst>
          </p:cNvPr>
          <p:cNvSpPr>
            <a:spLocks noGrp="1" noChangeArrowheads="1"/>
          </p:cNvSpPr>
          <p:nvPr>
            <p:ph idx="1"/>
          </p:nvPr>
        </p:nvSpPr>
        <p:spPr bwMode="auto">
          <a:xfrm>
            <a:off x="1584575" y="1701876"/>
            <a:ext cx="8290945" cy="48013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Dataset Selection</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Choos</a:t>
            </a:r>
            <a:r>
              <a:rPr lang="en-US" altLang="en-US" sz="1800" dirty="0">
                <a:latin typeface="Times New Roman" panose="02020603050405020304" pitchFamily="18" charset="0"/>
                <a:cs typeface="Times New Roman" panose="02020603050405020304" pitchFamily="18" charset="0"/>
              </a:rPr>
              <a: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large web text corpus as the reference database.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Encoding Process</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 secret data (e.g., binary or text) into index values.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Match these indexes with pre-selected web texts.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 only the list of text URLs or references (not the actual data).</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Decoding Process</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receiver accesses the same web text database.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Reconstructs the secret message using the shared reference rules.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Testing Aspects</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 correct encoding/decoding of the secret message.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Evaluate how hard it is to detect hidden communication.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Robustness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 how changes in web text affect the retrieval of data.</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 how quickly data can be encoded and decoded.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341599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07734B-6646-9A88-6712-D5EBCA6F537B}"/>
              </a:ext>
            </a:extLst>
          </p:cNvPr>
          <p:cNvSpPr>
            <a:spLocks noGrp="1"/>
          </p:cNvSpPr>
          <p:nvPr>
            <p:ph type="title"/>
          </p:nvPr>
        </p:nvSpPr>
        <p:spPr>
          <a:xfrm>
            <a:off x="4226846" y="1028662"/>
            <a:ext cx="3135947" cy="675010"/>
          </a:xfrm>
        </p:spPr>
        <p:txBody>
          <a:bodyPr>
            <a:normAutofit/>
          </a:bodyPr>
          <a:lstStyle/>
          <a:p>
            <a:r>
              <a:rPr lang="en-IN" sz="3200" dirty="0">
                <a:solidFill>
                  <a:schemeClr val="bg1"/>
                </a:solidFill>
              </a:rPr>
              <a:t> </a:t>
            </a:r>
            <a:r>
              <a:rPr lang="en-IN" sz="3200" b="1" dirty="0">
                <a:solidFill>
                  <a:schemeClr val="bg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xmlns="" id="{0530BEFD-6146-5310-B57B-3A8299C224B9}"/>
              </a:ext>
            </a:extLst>
          </p:cNvPr>
          <p:cNvSpPr>
            <a:spLocks noGrp="1"/>
          </p:cNvSpPr>
          <p:nvPr>
            <p:ph idx="1"/>
          </p:nvPr>
        </p:nvSpPr>
        <p:spPr>
          <a:xfrm>
            <a:off x="1074033" y="2490118"/>
            <a:ext cx="9754387" cy="3073283"/>
          </a:xfrm>
        </p:spPr>
        <p:txBody>
          <a:bodyPr>
            <a:normAutofit fontScale="25000" lnSpcReduction="20000"/>
          </a:bodyPr>
          <a:lstStyle/>
          <a:p>
            <a:pPr marL="0" indent="0" algn="just">
              <a:buNone/>
            </a:pPr>
            <a:r>
              <a:rPr lang="en-US" sz="7200" dirty="0">
                <a:latin typeface="Times New Roman" panose="02020603050405020304" pitchFamily="18" charset="0"/>
                <a:cs typeface="Times New Roman" panose="02020603050405020304" pitchFamily="18" charset="0"/>
              </a:rPr>
              <a:t>In summary, the coverless information hiding technique based on Web Text  represents a significant advancement in the field of secure and covert communication. By leveraging naturally occurring sentences from  mapping secret information to these sentences without modifying any underlying data, the system overcomes many limitations of traditional steganographic methods. </a:t>
            </a:r>
          </a:p>
          <a:p>
            <a:pPr marL="0" indent="0" algn="just">
              <a:buNone/>
            </a:pPr>
            <a:r>
              <a:rPr lang="en-US" sz="7200" dirty="0">
                <a:latin typeface="Times New Roman" panose="02020603050405020304" pitchFamily="18" charset="0"/>
                <a:cs typeface="Times New Roman" panose="02020603050405020304" pitchFamily="18" charset="0"/>
              </a:rPr>
              <a:t>The implementation demonstrated how natural language can act as a stealthy carrier of information, providing strong resistance against detection and analysis while maintaining message integrity and readability. </a:t>
            </a:r>
          </a:p>
          <a:p>
            <a:pPr marL="0" indent="0" algn="just">
              <a:buNone/>
            </a:pPr>
            <a:r>
              <a:rPr lang="en-US" sz="7200" dirty="0">
                <a:latin typeface="Times New Roman" panose="02020603050405020304" pitchFamily="18" charset="0"/>
                <a:cs typeface="Times New Roman" panose="02020603050405020304" pitchFamily="18" charset="0"/>
              </a:rPr>
              <a:t>Future enhancements involving AI-driven natural language generation and cryptographic integration will further improve the robustness and adaptability of this technique. Ultimately, this work contributes to developing innovative, practical solutions for privacy and security in an increasingly monitored digital world.</a:t>
            </a:r>
            <a:endParaRPr lang="en-IN" sz="7200" dirty="0">
              <a:latin typeface="Times New Roman" panose="02020603050405020304" pitchFamily="18" charset="0"/>
              <a:cs typeface="Times New Roman" panose="02020603050405020304" pitchFamily="18" charset="0"/>
            </a:endParaRPr>
          </a:p>
          <a:p>
            <a:pPr marL="0" indent="0" algn="just">
              <a:buNone/>
            </a:pPr>
            <a:r>
              <a:rPr lang="en-US" b="1" dirty="0"/>
              <a:t> </a:t>
            </a:r>
            <a:endParaRPr lang="en-IN" dirty="0"/>
          </a:p>
          <a:p>
            <a:pPr marL="0" indent="0" algn="just">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721858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B0753-7D51-8959-3F09-69A94B9D10B4}"/>
              </a:ext>
            </a:extLst>
          </p:cNvPr>
          <p:cNvSpPr>
            <a:spLocks noGrp="1"/>
          </p:cNvSpPr>
          <p:nvPr>
            <p:ph type="title"/>
          </p:nvPr>
        </p:nvSpPr>
        <p:spPr/>
        <p:txBody>
          <a:bodyPr/>
          <a:lstStyle/>
          <a:p>
            <a:r>
              <a:rPr lang="en-US" dirty="0"/>
              <a:t>   </a:t>
            </a:r>
            <a:endParaRPr lang="en-IN" dirty="0"/>
          </a:p>
        </p:txBody>
      </p:sp>
      <p:pic>
        <p:nvPicPr>
          <p:cNvPr id="5" name="Content Placeholder 4">
            <a:extLst>
              <a:ext uri="{FF2B5EF4-FFF2-40B4-BE49-F238E27FC236}">
                <a16:creationId xmlns:a16="http://schemas.microsoft.com/office/drawing/2014/main" xmlns="" id="{982BD6C6-331C-EE54-7524-990682B4D337}"/>
              </a:ext>
            </a:extLst>
          </p:cNvPr>
          <p:cNvPicPr>
            <a:picLocks noGrp="1" noChangeAspect="1"/>
          </p:cNvPicPr>
          <p:nvPr>
            <p:ph idx="1"/>
          </p:nvPr>
        </p:nvPicPr>
        <p:blipFill>
          <a:blip r:embed="rId2"/>
          <a:stretch>
            <a:fillRect/>
          </a:stretch>
        </p:blipFill>
        <p:spPr>
          <a:xfrm>
            <a:off x="2715607" y="2541955"/>
            <a:ext cx="6133108" cy="1774090"/>
          </a:xfrm>
        </p:spPr>
      </p:pic>
    </p:spTree>
    <p:extLst>
      <p:ext uri="{BB962C8B-B14F-4D97-AF65-F5344CB8AC3E}">
        <p14:creationId xmlns:p14="http://schemas.microsoft.com/office/powerpoint/2010/main" xmlns="" val="40850029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2.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Ion</Template>
  <TotalTime>580</TotalTime>
  <Words>1434</Words>
  <Application>Microsoft Office PowerPoint</Application>
  <PresentationFormat>Custom</PresentationFormat>
  <Paragraphs>105</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Ion</vt:lpstr>
      <vt:lpstr>COVERLESS INFORMATION HIDING METHOD BASED ON WEB TEXT</vt:lpstr>
      <vt:lpstr>ABSTRACT</vt:lpstr>
      <vt:lpstr> INTRODUCTION</vt:lpstr>
      <vt:lpstr>LITERATURE SURVEY</vt:lpstr>
      <vt:lpstr>Slide 5</vt:lpstr>
      <vt:lpstr> EXISTING SYSTEM</vt:lpstr>
      <vt:lpstr> PROPOSED SYSTEM WITH FEATURES</vt:lpstr>
      <vt:lpstr>SYSTEM DESIGN</vt:lpstr>
      <vt:lpstr>IMPLEMENTATION </vt:lpstr>
      <vt:lpstr>RESULT</vt:lpstr>
      <vt:lpstr>     </vt:lpstr>
      <vt:lpstr>TESTING</vt:lpstr>
      <vt:lpstr> CONCLUSION</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COVERLESS INFORMATION HIDING METHOD BASED ON WEB TEXT</dc:title>
  <dc:creator>BANDARI NITHIN</dc:creator>
  <cp:lastModifiedBy>HP</cp:lastModifiedBy>
  <cp:revision>14</cp:revision>
  <dcterms:created xsi:type="dcterms:W3CDTF">2025-06-05T04:02:24Z</dcterms:created>
  <dcterms:modified xsi:type="dcterms:W3CDTF">2025-06-21T06:41:37Z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